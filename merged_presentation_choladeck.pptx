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svg" ContentType="image/svg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f2599e5428c4b23" /><Relationship Type="http://schemas.openxmlformats.org/package/2006/relationships/metadata/core-properties" Target="/docProps/core.xml" Id="R1ff6945243184f1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9bd87a6130774c55"/>
  </p:sldMasterIdLst>
  <p:notesMasterIdLst>
    <p:notesMasterId r:id="Rb9aacc16e02d4bae"/>
  </p:notesMasterIdLst>
  <p:sldIdLst>
    <p:sldId id="256" r:id="R3b8ea6c632da4602"/>
    <p:sldId id="257" r:id="R5acb51c725d34e3a"/>
    <p:sldId id="258" r:id="R6556f995cc3e43e9"/>
    <p:sldId id="259" r:id="R553d1a0a745c4f3a"/>
    <p:sldId id="260" r:id="Rc61dcf0346804414"/>
    <p:sldId id="261" r:id="Rb477e3231bcf4a09"/>
    <p:sldId id="262" r:id="R7125064db45e487f"/>
    <p:sldId id="263" r:id="R510cdb0370804345"/>
    <p:sldId id="264" r:id="R759bcc72b832498c"/>
    <p:sldId id="265" r:id="Rfe98be2ac63e48f4"/>
    <p:sldId id="266" r:id="Rad3a2173eac74901"/>
    <p:sldId id="267" r:id="Reaed95fae9bd49ec"/>
    <p:sldId id="268" r:id="Ra8168862ea364b48"/>
    <p:sldId id="269" r:id="R7bb3353cd0724fff"/>
    <p:sldId id="270" r:id="R2a218769ee04458a"/>
    <p:sldId id="271" r:id="R71452b088e8f4c1c"/>
    <p:sldId id="272" r:id="R3288e32692f3412c"/>
    <p:sldId id="273" r:id="Rc0a6e4c4842648f8"/>
    <p:sldId id="274" r:id="R08e49c7b850840c4"/>
    <p:sldId id="275" r:id="Ra19c9567b9864a3c"/>
    <p:sldId id="276" r:id="Rb17d90ab95644ecf"/>
    <p:sldId id="277" r:id="R584be4ae168d4ecb"/>
    <p:sldId id="278" r:id="R39253ee5b0a14772"/>
    <p:sldId id="279" r:id="R82d4222d2e634e51"/>
    <p:sldId id="280" r:id="Rc9972171e51b4b52"/>
    <p:sldId id="281" r:id="Rf588b4c08c804f3f"/>
    <p:sldId id="282" r:id="Ref41ba6c1c654627"/>
    <p:sldId id="283" r:id="R436f0a2187c347db"/>
    <p:sldId id="284" r:id="Rc7338fa2e19d4e08"/>
    <p:sldId id="285" r:id="Rdd754f56a5534741"/>
    <p:sldId id="286" r:id="R3e4f682d9be942c4"/>
    <p:sldId id="287" r:id="Rd60f18b1277a405d"/>
    <p:sldId id="288" r:id="Ree387101403b4063"/>
    <p:sldId id="289" r:id="R21c1abc5cbe74aea"/>
    <p:sldId id="290" r:id="R56d22a908b7e4df3"/>
    <p:sldId id="291" r:id="Rb1cc7f13c7dd4f0c"/>
  </p:sldIdLst>
  <p:sldSz cx="12191675" cy="6858000"/>
  <p:notesSz cx="6858000" cy="12191675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aacc16e02d4bae" /><Relationship Type="http://schemas.openxmlformats.org/officeDocument/2006/relationships/presProps" Target="/ppt/presProps.xml" Id="Rfbc3353c0c724d89" /><Relationship Type="http://schemas.openxmlformats.org/officeDocument/2006/relationships/slideMaster" Target="/ppt/slideMasters/slideMaster1.xml" Id="R9bd87a6130774c55" /><Relationship Type="http://schemas.openxmlformats.org/officeDocument/2006/relationships/theme" Target="/ppt/slideMasters/theme/theme2.xml" Id="R4dd0ecd6196a4493" /><Relationship Type="http://schemas.openxmlformats.org/officeDocument/2006/relationships/slide" Target="/ppt/slides/slide1.xml" Id="R3b8ea6c632da4602" /><Relationship Type="http://schemas.openxmlformats.org/officeDocument/2006/relationships/slide" Target="/ppt/slides/slide2.xml" Id="R5acb51c725d34e3a" /><Relationship Type="http://schemas.openxmlformats.org/officeDocument/2006/relationships/slide" Target="/ppt/slides/slide3.xml" Id="R6556f995cc3e43e9" /><Relationship Type="http://schemas.openxmlformats.org/officeDocument/2006/relationships/slide" Target="/ppt/slides/slide4.xml" Id="R553d1a0a745c4f3a" /><Relationship Type="http://schemas.openxmlformats.org/officeDocument/2006/relationships/slide" Target="/ppt/slides/slide5.xml" Id="Rc61dcf0346804414" /><Relationship Type="http://schemas.openxmlformats.org/officeDocument/2006/relationships/slide" Target="/ppt/slides/slide6.xml" Id="Rb477e3231bcf4a09" /><Relationship Type="http://schemas.openxmlformats.org/officeDocument/2006/relationships/slide" Target="/ppt/slides/slide7.xml" Id="R7125064db45e487f" /><Relationship Type="http://schemas.openxmlformats.org/officeDocument/2006/relationships/slide" Target="/ppt/slides/slide8.xml" Id="R510cdb0370804345" /><Relationship Type="http://schemas.openxmlformats.org/officeDocument/2006/relationships/slide" Target="/ppt/slides/slide9.xml" Id="R759bcc72b832498c" /><Relationship Type="http://schemas.openxmlformats.org/officeDocument/2006/relationships/slide" Target="/ppt/slides/slide10.xml" Id="Rfe98be2ac63e48f4" /><Relationship Type="http://schemas.openxmlformats.org/officeDocument/2006/relationships/slide" Target="/ppt/slides/slide11.xml" Id="Rad3a2173eac74901" /><Relationship Type="http://schemas.openxmlformats.org/officeDocument/2006/relationships/slide" Target="/ppt/slides/slide12.xml" Id="Reaed95fae9bd49ec" /><Relationship Type="http://schemas.openxmlformats.org/officeDocument/2006/relationships/slide" Target="/ppt/slides/slide13.xml" Id="Ra8168862ea364b48" /><Relationship Type="http://schemas.openxmlformats.org/officeDocument/2006/relationships/slide" Target="/ppt/slides/slide14.xml" Id="R7bb3353cd0724fff" /><Relationship Type="http://schemas.openxmlformats.org/officeDocument/2006/relationships/slide" Target="/ppt/slides/slide15.xml" Id="R2a218769ee04458a" /><Relationship Type="http://schemas.openxmlformats.org/officeDocument/2006/relationships/slide" Target="/ppt/slides/slide16.xml" Id="R71452b088e8f4c1c" /><Relationship Type="http://schemas.openxmlformats.org/officeDocument/2006/relationships/slide" Target="/ppt/slides/slide17.xml" Id="R3288e32692f3412c" /><Relationship Type="http://schemas.openxmlformats.org/officeDocument/2006/relationships/slide" Target="/ppt/slides/slide18.xml" Id="Rc0a6e4c4842648f8" /><Relationship Type="http://schemas.openxmlformats.org/officeDocument/2006/relationships/slide" Target="/ppt/slides/slide19.xml" Id="R08e49c7b850840c4" /><Relationship Type="http://schemas.openxmlformats.org/officeDocument/2006/relationships/slide" Target="/ppt/slides/slide20.xml" Id="Ra19c9567b9864a3c" /><Relationship Type="http://schemas.openxmlformats.org/officeDocument/2006/relationships/slide" Target="/ppt/slides/slide21.xml" Id="Rb17d90ab95644ecf" /><Relationship Type="http://schemas.openxmlformats.org/officeDocument/2006/relationships/slide" Target="/ppt/slides/slide22.xml" Id="R584be4ae168d4ecb" /><Relationship Type="http://schemas.openxmlformats.org/officeDocument/2006/relationships/slide" Target="/ppt/slides/slide23.xml" Id="R39253ee5b0a14772" /><Relationship Type="http://schemas.openxmlformats.org/officeDocument/2006/relationships/slide" Target="/ppt/slides/slide24.xml" Id="R82d4222d2e634e51" /><Relationship Type="http://schemas.openxmlformats.org/officeDocument/2006/relationships/slide" Target="/ppt/slides/slide25.xml" Id="Rc9972171e51b4b52" /><Relationship Type="http://schemas.openxmlformats.org/officeDocument/2006/relationships/slide" Target="/ppt/slides/slide26.xml" Id="Rf588b4c08c804f3f" /><Relationship Type="http://schemas.openxmlformats.org/officeDocument/2006/relationships/slide" Target="/ppt/slides/slide27.xml" Id="Ref41ba6c1c654627" /><Relationship Type="http://schemas.openxmlformats.org/officeDocument/2006/relationships/slide" Target="/ppt/slides/slide28.xml" Id="R436f0a2187c347db" /><Relationship Type="http://schemas.openxmlformats.org/officeDocument/2006/relationships/slide" Target="/ppt/slides/slide29.xml" Id="Rc7338fa2e19d4e08" /><Relationship Type="http://schemas.openxmlformats.org/officeDocument/2006/relationships/slide" Target="/ppt/slides/slide30.xml" Id="Rdd754f56a5534741" /><Relationship Type="http://schemas.openxmlformats.org/officeDocument/2006/relationships/slide" Target="/ppt/slides/slide31.xml" Id="R3e4f682d9be942c4" /><Relationship Type="http://schemas.openxmlformats.org/officeDocument/2006/relationships/slide" Target="/ppt/slides/slide32.xml" Id="Rd60f18b1277a405d" /><Relationship Type="http://schemas.openxmlformats.org/officeDocument/2006/relationships/slide" Target="/ppt/slides/slide33.xml" Id="Ree387101403b4063" /><Relationship Type="http://schemas.openxmlformats.org/officeDocument/2006/relationships/slide" Target="/ppt/slides/slide34.xml" Id="R21c1abc5cbe74aea" /><Relationship Type="http://schemas.openxmlformats.org/officeDocument/2006/relationships/slide" Target="/ppt/slides/slide35.xml" Id="R56d22a908b7e4df3" /><Relationship Type="http://schemas.openxmlformats.org/officeDocument/2006/relationships/slide" Target="/ppt/slides/slide36.xml" Id="Rb1cc7f13c7dd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9211d76ca59d497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36b20b0cf4bed" /><Relationship Type="http://schemas.openxmlformats.org/officeDocument/2006/relationships/notesMaster" Target="/ppt/notesMasters/notesMaster1.xml" Id="Ree8c7f0a89fe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1591e210544d4" /><Relationship Type="http://schemas.openxmlformats.org/officeDocument/2006/relationships/notesMaster" Target="/ppt/notesMasters/notesMaster1.xml" Id="R6369dda52c5e4e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efa239159840f0" /><Relationship Type="http://schemas.openxmlformats.org/officeDocument/2006/relationships/notesMaster" Target="/ppt/notesMasters/notesMaster1.xml" Id="R0bfdff7d327b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3e884a80e64806" /><Relationship Type="http://schemas.openxmlformats.org/officeDocument/2006/relationships/notesMaster" Target="/ppt/notesMasters/notesMaster1.xml" Id="Rc37e52d2ff0242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d65a5969245ba" /><Relationship Type="http://schemas.openxmlformats.org/officeDocument/2006/relationships/notesMaster" Target="/ppt/notesMasters/notesMaster1.xml" Id="R9eaf9c5da73e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c57f59be54f2d" /><Relationship Type="http://schemas.openxmlformats.org/officeDocument/2006/relationships/notesMaster" Target="/ppt/notesMasters/notesMaster1.xml" Id="Rc60a6bf1733848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2af6de282f47de" /><Relationship Type="http://schemas.openxmlformats.org/officeDocument/2006/relationships/notesMaster" Target="/ppt/notesMasters/notesMaster1.xml" Id="R01645203ced544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87bb0739494542" /><Relationship Type="http://schemas.openxmlformats.org/officeDocument/2006/relationships/notesMaster" Target="/ppt/notesMasters/notesMaster1.xml" Id="R9351ea460dc2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5da3ac8c9f4300" /><Relationship Type="http://schemas.openxmlformats.org/officeDocument/2006/relationships/notesMaster" Target="/ppt/notesMasters/notesMaster1.xml" Id="R57396499feec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a71700ebf84f15" /><Relationship Type="http://schemas.openxmlformats.org/officeDocument/2006/relationships/notesMaster" Target="/ppt/notesMasters/notesMaster1.xml" Id="Rd5f6b609523b43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019447fe124be5" /><Relationship Type="http://schemas.openxmlformats.org/officeDocument/2006/relationships/notesMaster" Target="/ppt/notesMasters/notesMaster1.xml" Id="R991789544aa646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4948b23d574d29" /><Relationship Type="http://schemas.openxmlformats.org/officeDocument/2006/relationships/notesMaster" Target="/ppt/notesMasters/notesMaster1.xml" Id="R8a51986114ee46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bdb8543f01494f" /><Relationship Type="http://schemas.openxmlformats.org/officeDocument/2006/relationships/notesMaster" Target="/ppt/notesMasters/notesMaster1.xml" Id="R8b17e7a20a0645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99a83458fc4e5e" /><Relationship Type="http://schemas.openxmlformats.org/officeDocument/2006/relationships/notesMaster" Target="/ppt/notesMasters/notesMaster1.xml" Id="R849331cbb91c4b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7590d0f59d4a96" /><Relationship Type="http://schemas.openxmlformats.org/officeDocument/2006/relationships/notesMaster" Target="/ppt/notesMasters/notesMaster1.xml" Id="R041e30c1e9d041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3554d1398a4f1f" /><Relationship Type="http://schemas.openxmlformats.org/officeDocument/2006/relationships/notesMaster" Target="/ppt/notesMasters/notesMaster1.xml" Id="R41afb575f4f348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2038471cc1423c" /><Relationship Type="http://schemas.openxmlformats.org/officeDocument/2006/relationships/notesMaster" Target="/ppt/notesMasters/notesMaster1.xml" Id="R669affc99f394f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59b0d6276b447c" /><Relationship Type="http://schemas.openxmlformats.org/officeDocument/2006/relationships/notesMaster" Target="/ppt/notesMasters/notesMaster1.xml" Id="R9727236262344a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4180cee7a144be" /><Relationship Type="http://schemas.openxmlformats.org/officeDocument/2006/relationships/notesMaster" Target="/ppt/notesMasters/notesMaster1.xml" Id="Rb7a20f981af64a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76b7129d344713" /><Relationship Type="http://schemas.openxmlformats.org/officeDocument/2006/relationships/notesMaster" Target="/ppt/notesMasters/notesMaster1.xml" Id="Rc120bd157e5749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f080dde98f45a6" /><Relationship Type="http://schemas.openxmlformats.org/officeDocument/2006/relationships/notesMaster" Target="/ppt/notesMasters/notesMaster1.xml" Id="Ra6d19e11da894b4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1903a1c2714d92" /><Relationship Type="http://schemas.openxmlformats.org/officeDocument/2006/relationships/notesMaster" Target="/ppt/notesMasters/notesMaster1.xml" Id="R65097e8fa90444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48d4a4965f4236" /><Relationship Type="http://schemas.openxmlformats.org/officeDocument/2006/relationships/notesMaster" Target="/ppt/notesMasters/notesMaster1.xml" Id="R2656941983714d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d492403b234254" /><Relationship Type="http://schemas.openxmlformats.org/officeDocument/2006/relationships/notesMaster" Target="/ppt/notesMasters/notesMaster1.xml" Id="R38da51f53fd743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f1231003094b34" /><Relationship Type="http://schemas.openxmlformats.org/officeDocument/2006/relationships/notesMaster" Target="/ppt/notesMasters/notesMaster1.xml" Id="Ra5fe1b8077884c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31e3d6f0d41412e" /><Relationship Type="http://schemas.openxmlformats.org/officeDocument/2006/relationships/notesMaster" Target="/ppt/notesMasters/notesMaster1.xml" Id="R02a301a0a5da451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c6b9b6c875473f" /><Relationship Type="http://schemas.openxmlformats.org/officeDocument/2006/relationships/notesMaster" Target="/ppt/notesMasters/notesMaster1.xml" Id="R5ea00861f6c744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0fa632e398490b" /><Relationship Type="http://schemas.openxmlformats.org/officeDocument/2006/relationships/notesMaster" Target="/ppt/notesMasters/notesMaster1.xml" Id="Rc8fade47299b4e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532050f28e4dc7" /><Relationship Type="http://schemas.openxmlformats.org/officeDocument/2006/relationships/notesMaster" Target="/ppt/notesMasters/notesMaster1.xml" Id="R79a312d0d4644d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5e50dedf1fa45c5" /><Relationship Type="http://schemas.openxmlformats.org/officeDocument/2006/relationships/notesMaster" Target="/ppt/notesMasters/notesMaster1.xml" Id="R10283b8719a54b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e1d1adee1c044a4" /><Relationship Type="http://schemas.openxmlformats.org/officeDocument/2006/relationships/notesMaster" Target="/ppt/notesMasters/notesMaster1.xml" Id="Rfea74a1cf93446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2bcf8e90f94a58" /><Relationship Type="http://schemas.openxmlformats.org/officeDocument/2006/relationships/notesMaster" Target="/ppt/notesMasters/notesMaster1.xml" Id="Re5f6bac00333409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6877bc3d351411d" /><Relationship Type="http://schemas.openxmlformats.org/officeDocument/2006/relationships/notesMaster" Target="/ppt/notesMasters/notesMaster1.xml" Id="R03a326658fcc4d2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39ab525260466d" /><Relationship Type="http://schemas.openxmlformats.org/officeDocument/2006/relationships/notesMaster" Target="/ppt/notesMasters/notesMaster1.xml" Id="R66a13123cc6a4a3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b0e25db8f044f7" /><Relationship Type="http://schemas.openxmlformats.org/officeDocument/2006/relationships/notesMaster" Target="/ppt/notesMasters/notesMaster1.xml" Id="Rc7f3e5fef25f4cd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8a1f39a269648c0" /><Relationship Type="http://schemas.openxmlformats.org/officeDocument/2006/relationships/notesMaster" Target="/ppt/notesMasters/notesMaster1.xml" Id="R879069b34a5d4bf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37946b2cb4530" /><Relationship Type="http://schemas.openxmlformats.org/officeDocument/2006/relationships/image" Target="/ppt/media/image.png" Id="R2103540d98a54d18" /><Relationship Type="http://schemas.openxmlformats.org/officeDocument/2006/relationships/hyperlink" Target="https://gamma.app/?utm_source=made-with-gamma" TargetMode="External" Id="rcId2be4d70994ec4a0a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cId2be4d70994ec4a0a" tooltip=""/>
          </p:cNvPr>
          <p:cNvPicPr>
            <a:picLocks noChangeAspect="1"/>
          </p:cNvPicPr>
          <p:nvPr/>
        </p:nvPicPr>
        <p:blipFill>
          <a:blip r:embed="R2103540d98a54d18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2cb15575a41b3" /><Relationship Type="http://schemas.openxmlformats.org/officeDocument/2006/relationships/slideLayout" Target="/ppt/slideLayouts/slideLayout2.xml" Id="R7e6fd6c956c44feb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7e6fd6c956c44feb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jpg" Id="R43c4a47b949c440d" /><Relationship Type="http://schemas.openxmlformats.org/officeDocument/2006/relationships/notesSlide" Target="/ppt/notesSlides/notesSlide1.xml" Id="R2350565df70c4e68" /><Relationship Type="http://schemas.openxmlformats.org/officeDocument/2006/relationships/slideLayout" Target="/ppt/slideLayouts/slideLayout2.xml" Id="R77ec9a7e68db45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jpg" Id="R1661a1e2108545b4" /><Relationship Type="http://schemas.openxmlformats.org/officeDocument/2006/relationships/image" Target="/ppt/media/image2.png" Id="R8e3a7c81d96c4deb" /><Relationship Type="http://schemas.openxmlformats.org/officeDocument/2006/relationships/image" Target="/ppt/media/image.svg" Id="Rf797f4f0bbdb4593" /><Relationship Type="http://schemas.openxmlformats.org/officeDocument/2006/relationships/image" Target="/ppt/media/image3.png" Id="R8f279edd822043b5" /><Relationship Type="http://schemas.openxmlformats.org/officeDocument/2006/relationships/image" Target="/ppt/media/image2.svg" Id="R78b99bea11754ac7" /><Relationship Type="http://schemas.openxmlformats.org/officeDocument/2006/relationships/notesSlide" Target="/ppt/notesSlides/notesSlide2.xml" Id="Rd788c3663d1f4df7" /><Relationship Type="http://schemas.openxmlformats.org/officeDocument/2006/relationships/slideLayout" Target="/ppt/slideLayouts/slideLayout2.xml" Id="Rc054366766a6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png" Id="R553a6143bde04a13" /><Relationship Type="http://schemas.openxmlformats.org/officeDocument/2006/relationships/image" Target="/ppt/media/image3.svg" Id="R72586cdba59248a0" /><Relationship Type="http://schemas.openxmlformats.org/officeDocument/2006/relationships/image" Target="/ppt/media/image5.png" Id="Rc80fafa400c748dc" /><Relationship Type="http://schemas.openxmlformats.org/officeDocument/2006/relationships/image" Target="/ppt/media/image4.svg" Id="R4226ba26534e4f52" /><Relationship Type="http://schemas.openxmlformats.org/officeDocument/2006/relationships/image" Target="/ppt/media/image6.png" Id="R9748caabc1574656" /><Relationship Type="http://schemas.openxmlformats.org/officeDocument/2006/relationships/image" Target="/ppt/media/image5.svg" Id="Re0d9bf7dc8fa4269" /><Relationship Type="http://schemas.openxmlformats.org/officeDocument/2006/relationships/image" Target="/ppt/media/image7.png" Id="R79ce84455c4a403c" /><Relationship Type="http://schemas.openxmlformats.org/officeDocument/2006/relationships/image" Target="/ppt/media/image6.svg" Id="R06da898f2796431b" /><Relationship Type="http://schemas.openxmlformats.org/officeDocument/2006/relationships/notesSlide" Target="/ppt/notesSlides/notesSlide3.xml" Id="R876e244c12d0433a" /><Relationship Type="http://schemas.openxmlformats.org/officeDocument/2006/relationships/slideLayout" Target="/ppt/slideLayouts/slideLayout2.xml" Id="R069d53d209084f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3.jpg" Id="R56a83f4865f741aa" /><Relationship Type="http://schemas.openxmlformats.org/officeDocument/2006/relationships/notesSlide" Target="/ppt/notesSlides/notesSlide4.xml" Id="R2081ea384ca64ca5" /><Relationship Type="http://schemas.openxmlformats.org/officeDocument/2006/relationships/slideLayout" Target="/ppt/slideLayouts/slideLayout2.xml" Id="R6f8fbd00dc4444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853d7beea42d41e2" /><Relationship Type="http://schemas.openxmlformats.org/officeDocument/2006/relationships/slideLayout" Target="/ppt/slideLayouts/slideLayout2.xml" Id="R1e5c5491fc4142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4.jpg" Id="Rb021f43fa15b4874" /><Relationship Type="http://schemas.openxmlformats.org/officeDocument/2006/relationships/notesSlide" Target="/ppt/notesSlides/notesSlide6.xml" Id="Rd97bb4bc6f8841b3" /><Relationship Type="http://schemas.openxmlformats.org/officeDocument/2006/relationships/slideLayout" Target="/ppt/slideLayouts/slideLayout2.xml" Id="R8eff28295f5549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dab2ec2c45a14d45" /><Relationship Type="http://schemas.openxmlformats.org/officeDocument/2006/relationships/slideLayout" Target="/ppt/slideLayouts/slideLayout2.xml" Id="R9c87d03193b442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8.png" Id="R397c321e35bf463e" /><Relationship Type="http://schemas.openxmlformats.org/officeDocument/2006/relationships/notesSlide" Target="/ppt/notesSlides/notesSlide8.xml" Id="R0eace454301245da" /><Relationship Type="http://schemas.openxmlformats.org/officeDocument/2006/relationships/slideLayout" Target="/ppt/slideLayouts/slideLayout2.xml" Id="Rc4759235fd3e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cc95a86c3a1c4ce4" /><Relationship Type="http://schemas.openxmlformats.org/officeDocument/2006/relationships/slideLayout" Target="/ppt/slideLayouts/slideLayout2.xml" Id="R2bde699b15a74f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5.jpg" Id="R7e891360957a4c4a" /><Relationship Type="http://schemas.openxmlformats.org/officeDocument/2006/relationships/image" Target="/ppt/media/image9.png" Id="R933e1924de684b3e" /><Relationship Type="http://schemas.openxmlformats.org/officeDocument/2006/relationships/image" Target="/ppt/media/image7.svg" Id="R0fdfcb56706c4310" /><Relationship Type="http://schemas.openxmlformats.org/officeDocument/2006/relationships/image" Target="/ppt/media/image10.png" Id="R4b069de0e2a4461b" /><Relationship Type="http://schemas.openxmlformats.org/officeDocument/2006/relationships/image" Target="/ppt/media/image8.svg" Id="Re9aef24276b84d07" /><Relationship Type="http://schemas.openxmlformats.org/officeDocument/2006/relationships/image" Target="/ppt/media/image11.png" Id="R83cfa64e68b74c1e" /><Relationship Type="http://schemas.openxmlformats.org/officeDocument/2006/relationships/image" Target="/ppt/media/image9.svg" Id="R19233bd4cdf5430c" /><Relationship Type="http://schemas.openxmlformats.org/officeDocument/2006/relationships/image" Target="/ppt/media/image12.png" Id="R30fe30e35ae343e4" /><Relationship Type="http://schemas.openxmlformats.org/officeDocument/2006/relationships/image" Target="/ppt/media/image10.svg" Id="R21ef3e2f7f4a4658" /><Relationship Type="http://schemas.openxmlformats.org/officeDocument/2006/relationships/notesSlide" Target="/ppt/notesSlides/notesSlide10.xml" Id="R52f4e3fa04a541b5" /><Relationship Type="http://schemas.openxmlformats.org/officeDocument/2006/relationships/slideLayout" Target="/ppt/slideLayouts/slideLayout2.xml" Id="R6742ee1bb63848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6.jpg" Id="R33dac963eceb4949" /><Relationship Type="http://schemas.openxmlformats.org/officeDocument/2006/relationships/image" Target="/ppt/media/image13.png" Id="R570b9679daf34b1d" /><Relationship Type="http://schemas.openxmlformats.org/officeDocument/2006/relationships/image" Target="/ppt/media/image11.svg" Id="R5c3366395ab84ae3" /><Relationship Type="http://schemas.openxmlformats.org/officeDocument/2006/relationships/notesSlide" Target="/ppt/notesSlides/notesSlide11.xml" Id="R78e0ccc670df4361" /><Relationship Type="http://schemas.openxmlformats.org/officeDocument/2006/relationships/slideLayout" Target="/ppt/slideLayouts/slideLayout2.xml" Id="R7ea16ec1c45643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7.jpg" Id="R9aea790c3c3a4406" /><Relationship Type="http://schemas.openxmlformats.org/officeDocument/2006/relationships/notesSlide" Target="/ppt/notesSlides/notesSlide12.xml" Id="R954e959a94b64d06" /><Relationship Type="http://schemas.openxmlformats.org/officeDocument/2006/relationships/slideLayout" Target="/ppt/slideLayouts/slideLayout2.xml" Id="R927e16ea7c5641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70b2b26ac6c74191" /><Relationship Type="http://schemas.openxmlformats.org/officeDocument/2006/relationships/slideLayout" Target="/ppt/slideLayouts/slideLayout2.xml" Id="R17bfe6fe1e684e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29c31e5d56d24cde" /><Relationship Type="http://schemas.openxmlformats.org/officeDocument/2006/relationships/slideLayout" Target="/ppt/slideLayouts/slideLayout2.xml" Id="R3eb7533acf2c45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4.png" Id="R4bc44627dc764d61" /><Relationship Type="http://schemas.openxmlformats.org/officeDocument/2006/relationships/image" Target="/ppt/media/image12.svg" Id="R30bc8c81d7a44e88" /><Relationship Type="http://schemas.openxmlformats.org/officeDocument/2006/relationships/notesSlide" Target="/ppt/notesSlides/notesSlide15.xml" Id="R768cea8787c54161" /><Relationship Type="http://schemas.openxmlformats.org/officeDocument/2006/relationships/slideLayout" Target="/ppt/slideLayouts/slideLayout2.xml" Id="Rdb4d5f3c9c7d44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310ddcaede2447c7" /><Relationship Type="http://schemas.openxmlformats.org/officeDocument/2006/relationships/slideLayout" Target="/ppt/slideLayouts/slideLayout2.xml" Id="Rbdfff1cdf6984c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5.png" Id="Ra5b758281639431d" /><Relationship Type="http://schemas.openxmlformats.org/officeDocument/2006/relationships/notesSlide" Target="/ppt/notesSlides/notesSlide17.xml" Id="R9c16a88885b342ad" /><Relationship Type="http://schemas.openxmlformats.org/officeDocument/2006/relationships/slideLayout" Target="/ppt/slideLayouts/slideLayout2.xml" Id="Rc10b7a84d4af49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16.png" Id="R4ba70ee461e841c5" /><Relationship Type="http://schemas.openxmlformats.org/officeDocument/2006/relationships/notesSlide" Target="/ppt/notesSlides/notesSlide18.xml" Id="R8cf2474fb32e47e8" /><Relationship Type="http://schemas.openxmlformats.org/officeDocument/2006/relationships/slideLayout" Target="/ppt/slideLayouts/slideLayout2.xml" Id="R59a025b93ba14b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7cf6f77f2afe450c" /><Relationship Type="http://schemas.openxmlformats.org/officeDocument/2006/relationships/slideLayout" Target="/ppt/slideLayouts/slideLayout2.xml" Id="Rbc882ad10b6147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notesSlide" Target="/ppt/notesSlides/notesSlide20.xml" Id="R07c37cd861b1424d" /><Relationship Type="http://schemas.openxmlformats.org/officeDocument/2006/relationships/slideLayout" Target="/ppt/slideLayouts/slideLayout2.xml" Id="R081d516217dc41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notesSlide" Target="/ppt/notesSlides/notesSlide21.xml" Id="Re37b6c78936c4cd7" /><Relationship Type="http://schemas.openxmlformats.org/officeDocument/2006/relationships/slideLayout" Target="/ppt/slideLayouts/slideLayout2.xml" Id="R9921a8a3e8c94a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notesSlide" Target="/ppt/notesSlides/notesSlide22.xml" Id="Rdc2b86fc1f724081" /><Relationship Type="http://schemas.openxmlformats.org/officeDocument/2006/relationships/slideLayout" Target="/ppt/slideLayouts/slideLayout2.xml" Id="R47a67fdf68c042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8.jpg" Id="Ra36a11451fc04a0d" /><Relationship Type="http://schemas.openxmlformats.org/officeDocument/2006/relationships/notesSlide" Target="/ppt/notesSlides/notesSlide23.xml" Id="Re6c0c3bae5824a64" /><Relationship Type="http://schemas.openxmlformats.org/officeDocument/2006/relationships/slideLayout" Target="/ppt/slideLayouts/slideLayout2.xml" Id="R3209130be2ee42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9.jpg" Id="Re11a74d26e634f99" /><Relationship Type="http://schemas.openxmlformats.org/officeDocument/2006/relationships/notesSlide" Target="/ppt/notesSlides/notesSlide24.xml" Id="Rd7230dfae39b4a96" /><Relationship Type="http://schemas.openxmlformats.org/officeDocument/2006/relationships/slideLayout" Target="/ppt/slideLayouts/slideLayout2.xml" Id="R475d8609eb9a43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10.jpg" Id="R039a315540c94260" /><Relationship Type="http://schemas.openxmlformats.org/officeDocument/2006/relationships/notesSlide" Target="/ppt/notesSlides/notesSlide25.xml" Id="Ra9dcf58b86404e00" /><Relationship Type="http://schemas.openxmlformats.org/officeDocument/2006/relationships/slideLayout" Target="/ppt/slideLayouts/slideLayout2.xml" Id="R356c1a00289844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11.jpg" Id="R66bac808fdd24719" /><Relationship Type="http://schemas.openxmlformats.org/officeDocument/2006/relationships/notesSlide" Target="/ppt/notesSlides/notesSlide26.xml" Id="R11c59d056928401f" /><Relationship Type="http://schemas.openxmlformats.org/officeDocument/2006/relationships/slideLayout" Target="/ppt/slideLayouts/slideLayout2.xml" Id="R82f17422514741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12.jpg" Id="R7595f67357614e6e" /><Relationship Type="http://schemas.openxmlformats.org/officeDocument/2006/relationships/notesSlide" Target="/ppt/notesSlides/notesSlide27.xml" Id="R5c11eb8f33f04b4c" /><Relationship Type="http://schemas.openxmlformats.org/officeDocument/2006/relationships/slideLayout" Target="/ppt/slideLayouts/slideLayout2.xml" Id="Rdfe73ce0a61c4a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13.jpg" Id="R5258302aece1468d" /><Relationship Type="http://schemas.openxmlformats.org/officeDocument/2006/relationships/notesSlide" Target="/ppt/notesSlides/notesSlide28.xml" Id="R24a06acce19c4a9e" /><Relationship Type="http://schemas.openxmlformats.org/officeDocument/2006/relationships/slideLayout" Target="/ppt/slideLayouts/slideLayout2.xml" Id="R2e8d36a52429475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14.jpg" Id="R341e5de18f674a1a" /><Relationship Type="http://schemas.openxmlformats.org/officeDocument/2006/relationships/notesSlide" Target="/ppt/notesSlides/notesSlide29.xml" Id="Re5231129b58e439f" /><Relationship Type="http://schemas.openxmlformats.org/officeDocument/2006/relationships/slideLayout" Target="/ppt/slideLayouts/slideLayout2.xml" Id="R1d045679c3154f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15.jpg" Id="R9b48c797b6a7453f" /><Relationship Type="http://schemas.openxmlformats.org/officeDocument/2006/relationships/image" Target="/ppt/media/image17.png" Id="Rcce6e36aa70e4037" /><Relationship Type="http://schemas.openxmlformats.org/officeDocument/2006/relationships/image" Target="/ppt/media/image13.svg" Id="R34c8c8fbaa944525" /><Relationship Type="http://schemas.openxmlformats.org/officeDocument/2006/relationships/image" Target="/ppt/media/image18.png" Id="Rd5dae7880b6d4969" /><Relationship Type="http://schemas.openxmlformats.org/officeDocument/2006/relationships/image" Target="/ppt/media/image14.svg" Id="R1511ddfc0f724ac2" /><Relationship Type="http://schemas.openxmlformats.org/officeDocument/2006/relationships/notesSlide" Target="/ppt/notesSlides/notesSlide30.xml" Id="Rd5dc53ac16cd421c" /><Relationship Type="http://schemas.openxmlformats.org/officeDocument/2006/relationships/slideLayout" Target="/ppt/slideLayouts/slideLayout2.xml" Id="R3b62b4c262a64c7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notesSlide" Target="/ppt/notesSlides/notesSlide31.xml" Id="R6109d803630b4649" /><Relationship Type="http://schemas.openxmlformats.org/officeDocument/2006/relationships/slideLayout" Target="/ppt/slideLayouts/slideLayout2.xml" Id="R48f64cb5723e46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image" Target="/ppt/media/image16.jpg" Id="Ra1d9e323413a4192" /><Relationship Type="http://schemas.openxmlformats.org/officeDocument/2006/relationships/notesSlide" Target="/ppt/notesSlides/notesSlide32.xml" Id="R374b282dc24c4c83" /><Relationship Type="http://schemas.openxmlformats.org/officeDocument/2006/relationships/slideLayout" Target="/ppt/slideLayouts/slideLayout2.xml" Id="Rd7c1165f59a24a6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notesSlide" Target="/ppt/notesSlides/notesSlide33.xml" Id="Rbe2749cd60cc48c2" /><Relationship Type="http://schemas.openxmlformats.org/officeDocument/2006/relationships/slideLayout" Target="/ppt/slideLayouts/slideLayout2.xml" Id="R5972ba7ab54240c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notesSlide" Target="/ppt/notesSlides/notesSlide34.xml" Id="R1fc9e01bddb446ff" /><Relationship Type="http://schemas.openxmlformats.org/officeDocument/2006/relationships/slideLayout" Target="/ppt/slideLayouts/slideLayout2.xml" Id="Re7a94d33c8b242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notesSlide" Target="/ppt/notesSlides/notesSlide35.xml" Id="Re1da4068c3c4447a" /><Relationship Type="http://schemas.openxmlformats.org/officeDocument/2006/relationships/slideLayout" Target="/ppt/slideLayouts/slideLayout2.xml" Id="R1d547745db34495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notesSlide" Target="/ppt/notesSlides/notesSlide36.xml" Id="Rff1c6174ff7740a5" /><Relationship Type="http://schemas.openxmlformats.org/officeDocument/2006/relationships/slideLayout" Target="/ppt/slideLayouts/slideLayout2.xml" Id="R0a6ad13ddfe44b0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43c4a47b949c440d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5953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AURACAST AUDIO CLASSIFICATION AND CONTENT MODERATION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14948"/>
            <a:ext cx="6296860" cy="968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Presented by: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850" b="1" dirty="0">
                <a:solidFill>
                  <a:srgbClr val="0C0D0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Sudheendra Thatikonda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Internship / project domain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89604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1661a1e2108545b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19931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PROBLEM STATEMENT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8e3a7c81d96c4deb">
            <a:extLst>
              <a:ext uri="{96DAC541-7B7A-43D3-8B79-37D633B846F1}">
                <asvg:svgBlip xmlns:asvg="http://schemas.microsoft.com/office/drawing/2016/SVG/main" r:embed="Rf797f4f0bbdb4593"/>
              </a:ext>
            </a:extLst>
          </a:blip>
          <a:stretch>
            <a:fillRect/>
          </a:stretch>
        </p:blipFill>
        <p:spPr>
          <a:xfrm>
            <a:off x="661475" y="1536998"/>
            <a:ext cx="6296860" cy="11098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7954" y="1741884"/>
            <a:ext cx="57854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Audio broadcasts are continuous and difficult to interpret manually.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8e3a7c81d96c4deb">
            <a:extLst>
              <a:ext uri="{96DAC541-7B7A-43D3-8B79-37D633B846F1}">
                <asvg:svgBlip xmlns:asvg="http://schemas.microsoft.com/office/drawing/2016/SVG/main" r:embed="Rf797f4f0bbdb4593"/>
              </a:ext>
            </a:extLst>
          </a:blip>
          <a:stretch>
            <a:fillRect/>
          </a:stretch>
        </p:blipFill>
        <p:spPr>
          <a:xfrm>
            <a:off x="661475" y="2817416"/>
            <a:ext cx="6296860" cy="110986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7954" y="3022302"/>
            <a:ext cx="57854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single audio stream may contain music, speech, noise, or mixed content.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8f279edd822043b5">
            <a:extLst>
              <a:ext uri="{96DAC541-7B7A-43D3-8B79-37D633B846F1}">
                <asvg:svgBlip xmlns:asvg="http://schemas.microsoft.com/office/drawing/2016/SVG/main" r:embed="R78b99bea11754ac7"/>
              </a:ext>
            </a:extLst>
          </a:blip>
          <a:stretch>
            <a:fillRect/>
          </a:stretch>
        </p:blipFill>
        <p:spPr>
          <a:xfrm>
            <a:off x="661475" y="4097834"/>
            <a:ext cx="6296860" cy="75981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67954" y="4302720"/>
            <a:ext cx="578549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Some speech content may also include inappropriate language.</a:t>
            </a:r>
            <a:endParaRPr lang="en-US" sz="17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8e3a7c81d96c4deb">
            <a:extLst>
              <a:ext uri="{96DAC541-7B7A-43D3-8B79-37D633B846F1}">
                <asvg:svgBlip xmlns:asvg="http://schemas.microsoft.com/office/drawing/2016/SVG/main" r:embed="Rf797f4f0bbdb4593"/>
              </a:ext>
            </a:extLst>
          </a:blip>
          <a:stretch>
            <a:fillRect/>
          </a:stretch>
        </p:blipFill>
        <p:spPr>
          <a:xfrm>
            <a:off x="661475" y="5028208"/>
            <a:ext cx="6296860" cy="110986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67954" y="5233095"/>
            <a:ext cx="57854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 automated system is needed to classify audio and generate metadata.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49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OBJECTIVE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73659"/>
            <a:ext cx="5339820" cy="1845171"/>
          </a:xfrm>
          <a:prstGeom prst="roundRect">
            <a:avLst>
              <a:gd name="adj" fmla="val 1537"/>
            </a:avLst>
          </a:prstGeom>
          <a:solidFill>
            <a:srgbClr val="D8D9D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2162671"/>
            <a:ext cx="567021" cy="567035"/>
          </a:xfrm>
          <a:prstGeom prst="ellipse">
            <a:avLst/>
          </a:prstGeom>
          <a:solidFill>
            <a:srgbClr val="C8CA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553a6143bde04a13">
            <a:extLst>
              <a:ext uri="{96DAC541-7B7A-43D3-8B79-37D633B846F1}">
                <asvg:svgBlip xmlns:asvg="http://schemas.microsoft.com/office/drawing/2016/SVG/main" r:embed="R72586cdba59248a0"/>
              </a:ext>
            </a:extLst>
          </a:blip>
          <a:stretch>
            <a:fillRect/>
          </a:stretch>
        </p:blipFill>
        <p:spPr>
          <a:xfrm>
            <a:off x="1006450" y="2318544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918718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AUDIO CLASSIFICATION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327400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Classify audio into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music, speech, and noise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973659"/>
            <a:ext cx="5339919" cy="1845171"/>
          </a:xfrm>
          <a:prstGeom prst="roundRect">
            <a:avLst>
              <a:gd name="adj" fmla="val 1537"/>
            </a:avLst>
          </a:prstGeom>
          <a:solidFill>
            <a:srgbClr val="D8D9D2"/>
          </a:solidFill>
          <a:ln/>
        </p:spPr>
      </p:sp>
      <p:sp>
        <p:nvSpPr>
          <p:cNvPr id="9" name="Shape 6"/>
          <p:cNvSpPr/>
          <p:nvPr/>
        </p:nvSpPr>
        <p:spPr>
          <a:xfrm>
            <a:off x="6379308" y="2162671"/>
            <a:ext cx="567021" cy="567035"/>
          </a:xfrm>
          <a:prstGeom prst="ellipse">
            <a:avLst/>
          </a:prstGeom>
          <a:solidFill>
            <a:srgbClr val="C8CAC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c80fafa400c748dc">
            <a:extLst>
              <a:ext uri="{96DAC541-7B7A-43D3-8B79-37D633B846F1}">
                <asvg:svgBlip xmlns:asvg="http://schemas.microsoft.com/office/drawing/2016/SVG/main" r:embed="R4226ba26534e4f52"/>
              </a:ext>
            </a:extLst>
          </a:blip>
          <a:stretch>
            <a:fillRect/>
          </a:stretch>
        </p:blipFill>
        <p:spPr>
          <a:xfrm>
            <a:off x="6535276" y="2318544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308" y="2918718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LANGUAGE DETECTION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79308" y="3327400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Detect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language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of speech content.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1845171"/>
          </a:xfrm>
          <a:prstGeom prst="roundRect">
            <a:avLst>
              <a:gd name="adj" fmla="val 1537"/>
            </a:avLst>
          </a:prstGeom>
          <a:solidFill>
            <a:srgbClr val="D8D9D2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C8CAC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9748caabc1574656">
            <a:extLst>
              <a:ext uri="{96DAC541-7B7A-43D3-8B79-37D633B846F1}">
                <asvg:svgBlip xmlns:asvg="http://schemas.microsoft.com/office/drawing/2016/SVG/main" r:embed="Re0d9bf7dc8fa4269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PROFANITY DETECTION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0482" y="536158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optional profanity detection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1845171"/>
          </a:xfrm>
          <a:prstGeom prst="roundRect">
            <a:avLst>
              <a:gd name="adj" fmla="val 1537"/>
            </a:avLst>
          </a:prstGeom>
          <a:solidFill>
            <a:srgbClr val="D8D9D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C8CAC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79ce84455c4a403c">
            <a:extLst>
              <a:ext uri="{96DAC541-7B7A-43D3-8B79-37D633B846F1}">
                <asvg:svgBlip xmlns:asvg="http://schemas.microsoft.com/office/drawing/2016/SVG/main" r:embed="R06da898f2796431b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308" y="495290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METADATA DISPLAY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79308" y="5361583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 the final metadata clearly in the application.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593"/>
            <a:ext cx="10868745" cy="42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OVERALL WORKFLOW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56a83f4865f741aa"/>
          <a:stretch>
            <a:fillRect/>
          </a:stretch>
        </p:blipFill>
        <p:spPr>
          <a:xfrm>
            <a:off x="661475" y="1139627"/>
            <a:ext cx="9238424" cy="5196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99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OVERALL WORKFLOW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1933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10147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5391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AUDIO 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354461"/>
            <a:ext cx="5342796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Audio is taken as input from a file or microphone prototype.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87424" y="151933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87424" y="1810147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6187424" y="195391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87424" y="2354461"/>
            <a:ext cx="5342796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Audio features are extracted from the signal.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475" y="3415506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706316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850084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AUDIO TYPE CLASSIFICATION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1475" y="4250630"/>
            <a:ext cx="5342796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first model classifies the audio type.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87424" y="3415506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87424" y="3706316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424" y="3850084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LANGUAGE DETECTION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7424" y="4250630"/>
            <a:ext cx="5342796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Speech content is passed to language detection.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1475" y="4942483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233293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377061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PROFANITY DETECTION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1475" y="5777607"/>
            <a:ext cx="5342796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Profanity detection is applied optionally.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87424" y="4942483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87424" y="5233293"/>
            <a:ext cx="5342796" cy="254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5" name="Text 23"/>
          <p:cNvSpPr/>
          <p:nvPr/>
        </p:nvSpPr>
        <p:spPr>
          <a:xfrm>
            <a:off x="6187424" y="5377061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METADATA OUTPUT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87424" y="5777607"/>
            <a:ext cx="5342796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final output is shown in the UI as metadata.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b021f43fa15b487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75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AUDIO TYPE CLASSIFICATION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4231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75723" y="210720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FIRST STAGE OF THE PIPELINE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51589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is the first stage of the pipeline.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19633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275723" y="3261221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66990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goal is to identify whether the sample is music, speech, or noise.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35034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75723" y="441523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SEPARATION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4823916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helps separate broad audio categories before further processing.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50435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75723" y="556924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EFFICIENCY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75723" y="597793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improves the accuracy and efficiency of the next stages.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82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USED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792413"/>
            <a:ext cx="5476043" cy="2147193"/>
          </a:xfrm>
          <a:prstGeom prst="roundRect">
            <a:avLst>
              <a:gd name="adj" fmla="val 1320"/>
            </a:avLst>
          </a:prstGeom>
          <a:solidFill>
            <a:srgbClr val="1E1E1A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98142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MUSAN DATASET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65711"/>
            <a:ext cx="5098029" cy="130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8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8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MUSAN dataset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8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was used for audio type classification.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contains samples of music, speech, and noise.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9814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IT WAS CHOSEN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65711"/>
            <a:ext cx="5203794" cy="13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provided a strong baseline dataset for model training.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was useful for testing different machine learning models.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05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MODEL COMPARISON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9255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Multiple models were tested for audio type classification. The models evaluated included: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729805"/>
            <a:ext cx="5339820" cy="673298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291881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XGBOOST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190301" y="2729805"/>
            <a:ext cx="5339919" cy="673298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91881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RANDOM FOREST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61475" y="3592116"/>
            <a:ext cx="5339820" cy="673298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0482" y="378112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EXTRA TREES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190301" y="3592116"/>
            <a:ext cx="5339919" cy="673298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79308" y="378112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SVM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478040"/>
            <a:ext cx="10868745" cy="1209377"/>
          </a:xfrm>
          <a:prstGeom prst="roundRect">
            <a:avLst>
              <a:gd name="adj" fmla="val 2344"/>
            </a:avLst>
          </a:prstGeom>
          <a:solidFill>
            <a:srgbClr val="E7E7E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397c321e35bf463e"/>
          <a:stretch>
            <a:fillRect/>
          </a:stretch>
        </p:blipFill>
        <p:spPr>
          <a:xfrm>
            <a:off x="850482" y="4774208"/>
            <a:ext cx="295268" cy="236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34756" y="4714280"/>
            <a:ext cx="1000645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Among these,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SVM gave the best performance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 the tested data. Therefore, SVM was selected as the final model.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41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FEATURE EXTRACTION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2785"/>
            <a:ext cx="10868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Raw audio was converted into numerical features using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Librosa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 A total of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57 feature columns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were extracted for each audio sample. The extracted features were: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6132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20 MFCC mean features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20 MFCC standard deviation features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12 Chroma STFT mean features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 Spectral Centroid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326132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 Spectral Bandwidth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 Spectral Rolloff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 Zero Crossing Rate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1 RMS Energy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947940"/>
            <a:ext cx="10868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These features capture spectral, frequency, and energy information. They help the model distinguish between speech, music, and noise.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7e891360957a4c4a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2748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THESE FEATURES MATTER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933e1924de684b3e">
            <a:extLst>
              <a:ext uri="{96DAC541-7B7A-43D3-8B79-37D633B846F1}">
                <asvg:svgBlip xmlns:asvg="http://schemas.microsoft.com/office/drawing/2016/SVG/main" r:embed="R0fdfcb56706c4310"/>
              </a:ext>
            </a:extLst>
          </a:blip>
          <a:stretch>
            <a:fillRect/>
          </a:stretch>
        </p:blipFill>
        <p:spPr>
          <a:xfrm>
            <a:off x="661475" y="1845568"/>
            <a:ext cx="425241" cy="425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8005" y="1845568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MFCC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278005" y="2203053"/>
            <a:ext cx="5680330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MFCC captures the timbral structure of audio.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4b069de0e2a4461b">
            <a:extLst>
              <a:ext uri="{96DAC541-7B7A-43D3-8B79-37D633B846F1}">
                <asvg:svgBlip xmlns:asvg="http://schemas.microsoft.com/office/drawing/2016/SVG/main" r:embed="Re9aef24276b84d07"/>
              </a:ext>
            </a:extLst>
          </a:blip>
          <a:stretch>
            <a:fillRect/>
          </a:stretch>
        </p:blipFill>
        <p:spPr>
          <a:xfrm>
            <a:off x="661475" y="2832398"/>
            <a:ext cx="425241" cy="425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8005" y="2832398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CHROMA FEATURES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278005" y="3189883"/>
            <a:ext cx="5680330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Chroma features help represent harmonic content.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83cfa64e68b74c1e">
            <a:extLst>
              <a:ext uri="{96DAC541-7B7A-43D3-8B79-37D633B846F1}">
                <asvg:svgBlip xmlns:asvg="http://schemas.microsoft.com/office/drawing/2016/SVG/main" r:embed="R19233bd4cdf5430c"/>
              </a:ext>
            </a:extLst>
          </a:blip>
          <a:stretch>
            <a:fillRect/>
          </a:stretch>
        </p:blipFill>
        <p:spPr>
          <a:xfrm>
            <a:off x="661475" y="3819227"/>
            <a:ext cx="425241" cy="425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8005" y="3819227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SPECTRAL FEATURES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278005" y="4176713"/>
            <a:ext cx="5680330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Spectral features capture frequency spread and shape.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30fe30e35ae343e4">
            <a:extLst>
              <a:ext uri="{96DAC541-7B7A-43D3-8B79-37D633B846F1}">
                <asvg:svgBlip xmlns:asvg="http://schemas.microsoft.com/office/drawing/2016/SVG/main" r:embed="R21ef3e2f7f4a4658"/>
              </a:ext>
            </a:extLst>
          </a:blip>
          <a:stretch>
            <a:fillRect/>
          </a:stretch>
        </p:blipFill>
        <p:spPr>
          <a:xfrm>
            <a:off x="661475" y="4806057"/>
            <a:ext cx="425241" cy="4252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8005" y="4806057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ZCR &amp; RMS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278005" y="5163542"/>
            <a:ext cx="5680330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Zero Crossing Rate and RMS help represent signal intensity and texture.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661475" y="5982097"/>
            <a:ext cx="6906444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Together, these features form a strong input for classical ML models.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33dac963eceb4949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4909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LANGUAGE DETECTION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570b9679daf34b1d">
            <a:extLst>
              <a:ext uri="{96DAC541-7B7A-43D3-8B79-37D633B846F1}">
                <asvg:svgBlip xmlns:asvg="http://schemas.microsoft.com/office/drawing/2016/SVG/main" r:embed="R5c3366395ab84ae3"/>
              </a:ext>
            </a:extLst>
          </a:blip>
          <a:stretch>
            <a:fillRect/>
          </a:stretch>
        </p:blipFill>
        <p:spPr>
          <a:xfrm>
            <a:off x="661475" y="1361976"/>
            <a:ext cx="6296860" cy="11098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1301" y="174853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575654" y="1566863"/>
            <a:ext cx="51777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After audio type classification, speech is passed to language detection.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570b9679daf34b1d">
            <a:extLst>
              <a:ext uri="{96DAC541-7B7A-43D3-8B79-37D633B846F1}">
                <asvg:svgBlip xmlns:asvg="http://schemas.microsoft.com/office/drawing/2016/SVG/main" r:embed="R5c3366395ab84ae3"/>
              </a:ext>
            </a:extLst>
          </a:blip>
          <a:stretch>
            <a:fillRect/>
          </a:stretch>
        </p:blipFill>
        <p:spPr>
          <a:xfrm>
            <a:off x="661475" y="2642394"/>
            <a:ext cx="6296860" cy="11098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1301" y="302895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575654" y="2847280"/>
            <a:ext cx="51777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Whisper</a:t>
            </a:r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was used for transcription and language identification.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570b9679daf34b1d">
            <a:extLst>
              <a:ext uri="{96DAC541-7B7A-43D3-8B79-37D633B846F1}">
                <asvg:svgBlip xmlns:asvg="http://schemas.microsoft.com/office/drawing/2016/SVG/main" r:embed="R5c3366395ab84ae3"/>
              </a:ext>
            </a:extLst>
          </a:blip>
          <a:stretch>
            <a:fillRect/>
          </a:stretch>
        </p:blipFill>
        <p:spPr>
          <a:xfrm>
            <a:off x="661475" y="3922812"/>
            <a:ext cx="6296860" cy="11098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1301" y="430936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575654" y="4127698"/>
            <a:ext cx="51777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adds another level of metadata to the analysis pipeline.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570b9679daf34b1d">
            <a:extLst>
              <a:ext uri="{96DAC541-7B7A-43D3-8B79-37D633B846F1}">
                <asvg:svgBlip xmlns:asvg="http://schemas.microsoft.com/office/drawing/2016/SVG/main" r:embed="R5c3366395ab84ae3"/>
              </a:ext>
            </a:extLst>
          </a:blip>
          <a:stretch>
            <a:fillRect/>
          </a:stretch>
        </p:blipFill>
        <p:spPr>
          <a:xfrm>
            <a:off x="661475" y="5203230"/>
            <a:ext cx="6296860" cy="110986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1301" y="558978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1575654" y="5408116"/>
            <a:ext cx="517779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makes the system useful for multilingual speech content.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9aea790c3c3a4406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4174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WHISPER WAS CHOSEN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06513"/>
            <a:ext cx="6296860" cy="410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custom language model was not selected at this stage.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available language data was not diverse enough.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Accent variation and voice modulation were not sufficiently covered.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caused incorrect predictions between closely related languages.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Confusion was seen in cases such as English, French, German, and some South Indian languages.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Whisper was chosen because it provides a more reliable baseline until better labeled data is available.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345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LANGUAGES CONSIDERED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2427188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4305" y="2550021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ENGLISH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35732" y="2427188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58562" y="2550021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FRENCH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944614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4305" y="3067447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GERMAN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35732" y="2944614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58562" y="3067447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HINDI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462040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4305" y="3584873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KANNADA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35732" y="3462040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58562" y="3584873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KOREAN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3979466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84305" y="4102298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MALAYALAM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5732" y="3979466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58562" y="4102298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SPANISH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4496891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84305" y="4619724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TAMIL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35732" y="4496891"/>
            <a:ext cx="5394488" cy="437654"/>
          </a:xfrm>
          <a:prstGeom prst="roundRect">
            <a:avLst>
              <a:gd name="adj" fmla="val 421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58562" y="4619724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TELUGU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22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OPTIONAL PROFANITY DETECTION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896394"/>
            <a:ext cx="5476043" cy="1939230"/>
          </a:xfrm>
          <a:prstGeom prst="roundRect">
            <a:avLst>
              <a:gd name="adj" fmla="val 1462"/>
            </a:avLst>
          </a:prstGeom>
          <a:solidFill>
            <a:srgbClr val="1E1E1A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308540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HOW IT WORKS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569692"/>
            <a:ext cx="5098029" cy="11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Profanity detection is available as an optional feature.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is enabled through a button in the application.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0854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569692"/>
            <a:ext cx="5203794" cy="11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keeps the feature flexible instead of forcing it on every sample.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is useful when moderation is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8197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Profanity Model Used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4bc44627dc764d61">
            <a:extLst>
              <a:ext uri="{96DAC541-7B7A-43D3-8B79-37D633B846F1}">
                <asvg:svgBlip xmlns:asvg="http://schemas.microsoft.com/office/drawing/2016/SVG/main" r:embed="R30bc8c81d7a44e88"/>
              </a:ext>
            </a:extLst>
          </a:blip>
          <a:stretch>
            <a:fillRect/>
          </a:stretch>
        </p:blipFill>
        <p:spPr>
          <a:xfrm>
            <a:off x="661475" y="2038747"/>
            <a:ext cx="5339820" cy="16760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53159"/>
            <a:ext cx="4809409" cy="124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Name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model used in the code is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unitary/multilingual-toxic-xlm-roberta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4bc44627dc764d61">
            <a:extLst>
              <a:ext uri="{96DAC541-7B7A-43D3-8B79-37D633B846F1}">
                <asvg:svgBlip xmlns:asvg="http://schemas.microsoft.com/office/drawing/2016/SVG/main" r:embed="R30bc8c81d7a44e88"/>
              </a:ext>
            </a:extLst>
          </a:blip>
          <a:stretch>
            <a:fillRect/>
          </a:stretch>
        </p:blipFill>
        <p:spPr>
          <a:xfrm>
            <a:off x="6190301" y="2038747"/>
            <a:ext cx="5339919" cy="16760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6305" y="2253159"/>
            <a:ext cx="4809509" cy="124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Type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is an open-source multilingual toxicity detection model.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4bc44627dc764d61">
            <a:extLst>
              <a:ext uri="{96DAC541-7B7A-43D3-8B79-37D633B846F1}">
                <asvg:svgBlip xmlns:asvg="http://schemas.microsoft.com/office/drawing/2016/SVG/main" r:embed="R30bc8c81d7a44e88"/>
              </a:ext>
            </a:extLst>
          </a:blip>
          <a:stretch>
            <a:fillRect/>
          </a:stretch>
        </p:blipFill>
        <p:spPr>
          <a:xfrm>
            <a:off x="661475" y="3903762"/>
            <a:ext cx="5339820" cy="16760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4118173"/>
            <a:ext cx="4809409" cy="8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How It Works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works on text after transcription.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4bc44627dc764d61">
            <a:extLst>
              <a:ext uri="{96DAC541-7B7A-43D3-8B79-37D633B846F1}">
                <asvg:svgBlip xmlns:asvg="http://schemas.microsoft.com/office/drawing/2016/SVG/main" r:embed="R30bc8c81d7a44e88"/>
              </a:ext>
            </a:extLst>
          </a:blip>
          <a:stretch>
            <a:fillRect/>
          </a:stretch>
        </p:blipFill>
        <p:spPr>
          <a:xfrm>
            <a:off x="6190301" y="3903762"/>
            <a:ext cx="5339919" cy="167600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06305" y="4118173"/>
            <a:ext cx="4809509" cy="124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Purpose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helps detect toxic or inappropriate language in speech.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6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PROFANITY DETECTION FLOW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6366"/>
            <a:ext cx="10868745" cy="215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Audio is first transcribed into 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text is translated when required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translated text is analyzed for profanity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moderation result is then returned to the app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makes the moderation step language-aware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3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PROFANITY DETECTION 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a5b758281639431d"/>
          <a:stretch>
            <a:fillRect/>
          </a:stretch>
        </p:blipFill>
        <p:spPr>
          <a:xfrm>
            <a:off x="835500" y="165000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78382" y="4497554"/>
            <a:ext cx="1158360" cy="5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LANGUAGE AWARE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753638" y="4650398"/>
            <a:ext cx="751805" cy="28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RESULT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85539" y="4650398"/>
            <a:ext cx="910249" cy="28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ANALYZE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551889" y="4650398"/>
            <a:ext cx="1199457" cy="28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TRANSLATE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72411" y="4650398"/>
            <a:ext cx="1293539" cy="28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TRANSCRIBE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8139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THIS MAKES THE MODERATION STEP LANGUAGE-AWARE.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94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APPLICATION PAGES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85088" y="2654102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4ba70ee461e841c5"/>
          <a:stretch>
            <a:fillRect/>
          </a:stretch>
        </p:blipFill>
        <p:spPr>
          <a:xfrm>
            <a:off x="779542" y="2799060"/>
            <a:ext cx="236234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66352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HOME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07220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app includes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Home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 for file upload and analysis.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86748" y="2654102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4ba70ee461e841c5"/>
          <a:stretch>
            <a:fillRect/>
          </a:stretch>
        </p:blipFill>
        <p:spPr>
          <a:xfrm>
            <a:off x="4481202" y="2799060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1836" y="266352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LIVE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071836" y="307220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includes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Live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 for microphone-based prototype testing.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088408" y="2654102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4ba70ee461e841c5"/>
          <a:stretch>
            <a:fillRect/>
          </a:stretch>
        </p:blipFill>
        <p:spPr>
          <a:xfrm>
            <a:off x="8182862" y="2799060"/>
            <a:ext cx="236234" cy="189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3496" y="266352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HISTORY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73496" y="307220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includes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History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 to view past results.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85088" y="4045645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4ba70ee461e841c5"/>
          <a:stretch>
            <a:fillRect/>
          </a:stretch>
        </p:blipFill>
        <p:spPr>
          <a:xfrm>
            <a:off x="779542" y="4190603"/>
            <a:ext cx="236234" cy="189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0177" y="405507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ANALYTICS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1370177" y="4463752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includes 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Analytics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 for summary statistics.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4386748" y="4045645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4ba70ee461e841c5"/>
          <a:stretch>
            <a:fillRect/>
          </a:stretch>
        </p:blipFill>
        <p:spPr>
          <a:xfrm>
            <a:off x="4481202" y="4190603"/>
            <a:ext cx="236234" cy="1890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71836" y="405507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SETTINGS &amp; ABOUT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5071836" y="4463752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includes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Settings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 and 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About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page.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6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HOME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6366"/>
            <a:ext cx="10868745" cy="215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Landing page of the application.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Users can upload an audio file for analysis.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Provides 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Profanity Detection toggle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before uploading.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If enabled, the uploaded audio is also checked for profanity.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If disabled, the analysis skips the profanity detection stage.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24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RESULT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41091"/>
            <a:ext cx="10868745" cy="215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the predicted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Audio Type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(Music, Speech, or Noise).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Shows the detected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Language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Profanity Detection Status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(Enabled/Disabled).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If profanity detection is enabled, the result also indicates whether inappropriate content was detected.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Presents all extracted metadata in a clear and organized format.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907657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6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LIVE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6366"/>
            <a:ext cx="10868745" cy="215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Used for testing microphone-based audio capture.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Captures audio in small packets.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Sends packets through the existing processing pipeline.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Developed as a prototype for validating packet-based processing.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Serves as the foundation for future Auracast integration.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896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HISTORY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58319"/>
            <a:ext cx="10868745" cy="170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Stores previous analysis results.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audio type, detected language, and timestamp.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Shows profanity detection results if that option was enabled during analysis.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Allows users to revisit earlier analyses without reprocessing files.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a36a11451fc04a0d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9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ANALYTICS PAGE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11091"/>
            <a:ext cx="6296860" cy="170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summary statistics of analyzed files.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Shows distribution of Music, Speech, and Noise classifications.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language-wise analysis statistics.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Provides an overview of historical analysis data.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e11a74d26e634f99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369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SETTINGS PAGE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11091"/>
            <a:ext cx="6296860" cy="170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Allows switching between Light and Dark themes.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Provides application customization options.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Includes options related to stored analysis data.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Improves overall user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039a315540c94260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9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ABOUT PAGE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11091"/>
            <a:ext cx="6296860" cy="170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Provides information about the project.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Lists the machine learning models used.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Displays supported languages and application version.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Gives a brief overview of the application's functionality.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66bac808fdd24719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140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PROTOTYPE FOR MICROPHONE INPUT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06167"/>
            <a:ext cx="6296860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microphone-based prototype was created for packet-level testing.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audio is captured in chunks and passed through the pipeline.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was used to validate the processing logic.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 is best presented as a prototype, not as a fully deployed live streaming system.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7595f67357614e6e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77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CURRENT LIMITATIONS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10892"/>
            <a:ext cx="6296860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language dataset was not diverse enough.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Accent variation and voice modulation were not covered sufficiently.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caused confusion between some closely related languages.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Packet-based processing also adds delay because transcription and translation take time.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5258302aece1468d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0836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IMPROVEMENTS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73127"/>
            <a:ext cx="629686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Collect more diverse labeled language data.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 robustness across accents and speaking styles.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Train a dedicated audio-based profanity detection model.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Reduce dependence on transcription for moderation.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 latency and make the pipeline more efficient.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341e5de18f674a1a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353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MICROPHONE-BASED PROCESSING PIPELINE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767979"/>
            <a:ext cx="6296860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OBJECTIVE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233360" y="2422823"/>
            <a:ext cx="6296860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Developed a microphone-based processing pipeline to validate the end-to-end audio analysis workflow.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Used as an intermediate step before integrating Auracast broadcast reception.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Demonstrates that the AI pipeline can process streaming audio in small chunks.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793827"/>
            <a:ext cx="6296860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PROCESSING FLOW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5233360" y="4448671"/>
            <a:ext cx="6296860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Captures audio continuously from the microphone.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Splits the incoming audio into fixed-duration packets.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Processes each packet through the existing classification pipeline.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Generates metadata after processing multiple packets instead of every individual packet.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Acts as a proof of concept for future broadcast audio processing.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9b48c797b6a7453f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009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CURRENT CHALLENGES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101626"/>
            <a:ext cx="6296860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CHALLENGES</a:t>
            </a:r>
            <a:endParaRPr lang="en-US" sz="2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cce6e36aa70e4037">
            <a:extLst>
              <a:ext uri="{96DAC541-7B7A-43D3-8B79-37D633B846F1}">
                <asvg:svgBlip xmlns:asvg="http://schemas.microsoft.com/office/drawing/2016/SVG/main" r:embed="R34c8c8fbaa944525"/>
              </a:ext>
            </a:extLst>
          </a:blip>
          <a:stretch>
            <a:fillRect/>
          </a:stretch>
        </p:blipFill>
        <p:spPr>
          <a:xfrm>
            <a:off x="5233360" y="1708051"/>
            <a:ext cx="6296860" cy="9299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9239" y="1887736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LIMITED DIVERSITY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9239" y="2220615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Available language datasets lacked sufficient diversity.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cce6e36aa70e4037">
            <a:extLst>
              <a:ext uri="{96DAC541-7B7A-43D3-8B79-37D633B846F1}">
                <asvg:svgBlip xmlns:asvg="http://schemas.microsoft.com/office/drawing/2016/SVG/main" r:embed="R34c8c8fbaa944525"/>
              </a:ext>
            </a:extLst>
          </a:blip>
          <a:stretch>
            <a:fillRect/>
          </a:stretch>
        </p:blipFill>
        <p:spPr>
          <a:xfrm>
            <a:off x="5233360" y="2774553"/>
            <a:ext cx="6296860" cy="9299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9239" y="295423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ACCENT &amp; STYLE GAPS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9239" y="3287117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Limited representation of different accents and speaking styles.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d5dae7880b6d4969">
            <a:extLst>
              <a:ext uri="{96DAC541-7B7A-43D3-8B79-37D633B846F1}">
                <asvg:svgBlip xmlns:asvg="http://schemas.microsoft.com/office/drawing/2016/SVG/main" r:embed="R1511ddfc0f724ac2"/>
              </a:ext>
            </a:extLst>
          </a:blip>
          <a:stretch>
            <a:fillRect/>
          </a:stretch>
        </p:blipFill>
        <p:spPr>
          <a:xfrm>
            <a:off x="5233360" y="3841055"/>
            <a:ext cx="6296860" cy="1167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9239" y="402074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LANGUAGE CONFUSION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9239" y="4353620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Closely related languages (English, French, German) occasionally produced incorrect predictions.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d5dae7880b6d4969">
            <a:extLst>
              <a:ext uri="{96DAC541-7B7A-43D3-8B79-37D633B846F1}">
                <asvg:svgBlip xmlns:asvg="http://schemas.microsoft.com/office/drawing/2016/SVG/main" r:embed="R1511ddfc0f724ac2"/>
              </a:ext>
            </a:extLst>
          </a:blip>
          <a:stretch>
            <a:fillRect/>
          </a:stretch>
        </p:blipFill>
        <p:spPr>
          <a:xfrm>
            <a:off x="5233360" y="5145286"/>
            <a:ext cx="6296860" cy="11677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9239" y="532497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REGIONAL SIMILARITIES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9239" y="5657850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Similar pronunciation patterns also caused confusion among some South Indian languages.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46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CURRENT CHALLENGES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338784"/>
            <a:ext cx="5476043" cy="3054548"/>
          </a:xfrm>
          <a:prstGeom prst="roundRect">
            <a:avLst>
              <a:gd name="adj" fmla="val 928"/>
            </a:avLst>
          </a:prstGeom>
          <a:solidFill>
            <a:srgbClr val="1E1E1A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52779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PROCESSING CHALLENGES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012083"/>
            <a:ext cx="5098029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The profanity detection pipeline depends on transcription before classification.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Transcription and translation introduce additional processing overhead.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Metadata cannot be updated instantly because audio must first be buffered.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Longer processing pipelines increase overall response time.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5277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HARDWARE CHALLENGES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012083"/>
            <a:ext cx="520379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Auracast reception requires Bluetooth LE Audio compatible hardware.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Existing development hardware did not support complete Auracast reception.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a1d9e323413a419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78780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WHISPER WAS USED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695847"/>
            <a:ext cx="404009" cy="404019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00728" y="172953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807922" y="1757561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INITIAL APPROACH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807922" y="2140347"/>
            <a:ext cx="572229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Initially explored training a custom language classification model.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33360" y="2761555"/>
            <a:ext cx="404009" cy="404019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0728" y="279524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807922" y="2823270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LIMITATIONS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807922" y="3206055"/>
            <a:ext cx="5722298" cy="104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The available datasets were not sufficiently diverse.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Accent variations significantly reduced prediction accuracy.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Insufficient multilingual speech data affected model generalization.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592042"/>
            <a:ext cx="404009" cy="404019"/>
          </a:xfrm>
          <a:prstGeom prst="roundRect">
            <a:avLst>
              <a:gd name="adj" fmla="val 666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300728" y="4625727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807922" y="4653756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WHISPER AS BASELINE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807922" y="5036542"/>
            <a:ext cx="5722298" cy="94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Whisper already provides robust multilingual transcription and language identification.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It served as a reliable baseline while custom datasets continue to improve.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01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IMPROVEMENTS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674243"/>
            <a:ext cx="5476043" cy="2383631"/>
          </a:xfrm>
          <a:prstGeom prst="roundRect">
            <a:avLst>
              <a:gd name="adj" fmla="val 1189"/>
            </a:avLst>
          </a:prstGeom>
          <a:solidFill>
            <a:srgbClr val="1E1E1A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86325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347541"/>
            <a:ext cx="509802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Improve dataset diversity by collecting recordings from different speakers.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Include different accents, pronunciations, age groups, and speaking styles.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Balance the dataset across all supported languages.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86325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2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347541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Train a dedicated language model using the improved dataset.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Replace Whisper with an in-house model for greater customization.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Improve language classification accuracy.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70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IMPROVEMENTS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02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3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31450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Integrate Auracast broadcast reception using Bumble.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Later migrate to Android Bluetooth LE Audio APIs.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Connect live broadcast audio directly to the existing AI pipeline.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641203"/>
            <a:ext cx="5476043" cy="2449711"/>
          </a:xfrm>
          <a:prstGeom prst="roundRect">
            <a:avLst>
              <a:gd name="adj" fmla="val 1157"/>
            </a:avLst>
          </a:prstGeom>
          <a:solidFill>
            <a:srgbClr val="1E1E1A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83021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4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314502"/>
            <a:ext cx="509802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Develop an audio-based profanity detection model.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Eliminate dependency on transcription.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Reduce latency significantly.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Enable accurate word-level beeping instead of muting an entire packet.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72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VISION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7351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PLANNED METADATA EXPANSION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5184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CURRENT METADATA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0275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Audio Type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Language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Optional Profanity Detection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6651" y="2329458"/>
            <a:ext cx="5476043" cy="3621286"/>
          </a:xfrm>
          <a:prstGeom prst="roundRect">
            <a:avLst>
              <a:gd name="adj" fmla="val 783"/>
            </a:avLst>
          </a:prstGeom>
          <a:solidFill>
            <a:srgbClr val="1E1E1A"/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251847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METADATA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02756"/>
            <a:ext cx="5098029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Announcement detection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Podcast detection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Conversation detection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Lecture detection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Speaker identification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Emotion recognition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Background noise estimation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Audio quality analysis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08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RESULTS &amp; ACHIEVEMENTS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76375"/>
            <a:ext cx="3509180" cy="1862138"/>
          </a:xfrm>
          <a:prstGeom prst="roundRect">
            <a:avLst>
              <a:gd name="adj" fmla="val 144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0957" y="1655862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AUDIO CLASSIFICATION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0957" y="2038648"/>
            <a:ext cx="31502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Successfully classified audio into Music, Speech, and Noise using an SVM classifier.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1208" y="1476375"/>
            <a:ext cx="3509180" cy="1862138"/>
          </a:xfrm>
          <a:prstGeom prst="roundRect">
            <a:avLst>
              <a:gd name="adj" fmla="val 144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20690" y="1655862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MODEL EVALUATION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20690" y="2038648"/>
            <a:ext cx="315021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Evaluated multiple machine learning models, including Random Forest, Extra Trees, XGBoost, and SVM, with SVM achieving the best performance.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20941" y="1476375"/>
            <a:ext cx="3509180" cy="1862138"/>
          </a:xfrm>
          <a:prstGeom prst="roundRect">
            <a:avLst>
              <a:gd name="adj" fmla="val 144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00423" y="1655862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FEATURE EXTRACTION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00423" y="2038648"/>
            <a:ext cx="31502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Extracted 57 handcrafted audio features for robust classification.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3509070"/>
            <a:ext cx="3509180" cy="1582440"/>
          </a:xfrm>
          <a:prstGeom prst="roundRect">
            <a:avLst>
              <a:gd name="adj" fmla="val 170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40957" y="3688556"/>
            <a:ext cx="31502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MULTILINGUAL DETECTION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40957" y="4351834"/>
            <a:ext cx="31502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Integrated Whisper for multilingual language detection.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1208" y="3509070"/>
            <a:ext cx="3509180" cy="1582440"/>
          </a:xfrm>
          <a:prstGeom prst="roundRect">
            <a:avLst>
              <a:gd name="adj" fmla="val 170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20690" y="3688556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PROFANITY MODULE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520690" y="4071342"/>
            <a:ext cx="31502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Added an optional profanity detection module controlled by a user toggle before file upload.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20941" y="3509070"/>
            <a:ext cx="3509180" cy="1582440"/>
          </a:xfrm>
          <a:prstGeom prst="roundRect">
            <a:avLst>
              <a:gd name="adj" fmla="val 170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00423" y="3688556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WEB APPLICATION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200423" y="4071342"/>
            <a:ext cx="31502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Designed a modern web application with analysis, history, analytics, settings, and microphone prototype pages.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5262066"/>
            <a:ext cx="10868646" cy="1021854"/>
          </a:xfrm>
          <a:prstGeom prst="roundRect">
            <a:avLst>
              <a:gd name="adj" fmla="val 2636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40957" y="5441553"/>
            <a:ext cx="10509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MODULAR PIPELINE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40957" y="5824339"/>
            <a:ext cx="105096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Built a modular pipeline that can be extended to support Auracast broadcast reception in future.</a:t>
            </a:r>
            <a:endParaRPr lang="en-US" sz="1400" dirty="0"/>
          </a:p>
        </p:txBody>
      </p:sp>
    </p:spTree>
  </p:cSld>
  <p:clrMapOvr>
    <a:masterClrMapping/>
  </p:clrMapOvr>
</p:sld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terms:modified xsi:type="dcterms:W3CDTF">2026-07-22T09:07:07.1150000Z</dcterms:modified>
</coreProperties>
</file>